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A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A5B"/>
                </a:solidFill>
                <a:latin typeface="Arial"/>
              </a:rPr>
              <a:t>Sample maze results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visited</c:v>
                </c:pt>
              </c:strCache>
            </c:strRef>
          </c:tx>
          <c:spPr>
            <a:solidFill>
              <a:srgbClr val="1E6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BFS</c:v>
                  </c:pt>
                  <c:pt idx="1">
                    <c:v>DFS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Path length</c:v>
                </c:pt>
              </c:strCache>
            </c:strRef>
          </c:tx>
          <c:spPr>
            <a:solidFill>
              <a:srgbClr val="F5B3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BFS</c:v>
                  </c:pt>
                  <c:pt idx="1">
                    <c:v>DFS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A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 We are Kamalesh V and Karthick R, presenting our Foundations of AI project: an AI-based maze solver using BFS and DFS, guided by Muneeshwari P, Department of CSE. The grid on the right is a sample maze with start (green), goal (red) and the BFS-explored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the ability of machines to perform tasks that normally need human intelligence: reasoning, learning, problem solving. Search is the most fundamental AI technique: many problems are modelled as states and moves. Applications include navigation, games, robotics and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a route by hand or by random moves is slow and may fail. A maze has walls, dead ends and loops. Blind trial and error revisits cells. Systematic search algorithms guarantee that we either find a path or prove none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objectives: find a path from Start to Goal, implement both BFS and DFS, compare them on path length, nodes visited and time, and visualize the search step by step in a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sets up the maze and start/goal. The maze creation module builds a 2D grid. The BFS/DFS engine explores it. Path finding reconstructs the route using parent pointers. Finally the GUI visualizes visited cells, the path and the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explores level by level using a FIFO queue. Because all moves cost the same, the first time it reaches the goal is via a shortest path. Time O(V+E), space O(V). In the illustration numbers show the visit order and the yellow cells the shortest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 goes as deep as possible along one branch, then backtracks. It uses a stack or recursion. It uses less memory in wide mazes but the path found may not be shortest. Time O(V+E), space O(V). Compare the visit order with BFS.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is level-order with a queue, guarantees the shortest path, but stores a wide frontier. DFS is depth-first with a stack, needs backtracking and may return a longer path. The chart uses the actual nodes visited on our sample maze.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Implemented in Python with Tkinter. The maze is a 2D list where 0 is open and 1 is a wall. BFS uses collections.deque, DFS uses a list as stack. A parent dictionary reconstructs the path. The canvas colours cells while searching so the process is visible. The window on the right is a mockup of the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7x7 maze with start top-left and goal bottom-right. BFS visits nodes level by level and returns the shortest path. DFS finds a valid path but usually a different, longer one. Statistics are computed on this sample maze; run times are tiny and will vary by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underlies robot navigation, GPS routing, game AI pathfinding and autonomous vehicles. Future work: A* adds a heuristic, Dijkstra handles weighted costs, dynamic maze generation, and extending to 3D mazes.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we built a maze solver in Python that implements BFS and DFS and visualizes both. BFS gives shortest paths; DFS is simpler and lighter on memory. Key learning: state-space search, data structures, and complexity analysis. Search algorithms are the base of modern AI. Thank you; we are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Maze Solver Using Breadth-First Search (BFS) and Depth-First Search (DFS)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9260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Kamalesh V (240701224)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R (240701232)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Muneeshwari 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1097280"/>
            <a:ext cx="365760" cy="365760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92240" y="109728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09728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0" y="109728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109728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55280" y="109728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9728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146304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146304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0" y="146304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23760" y="146304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89520" y="146304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55280" y="146304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0" y="146304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182880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182880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182880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23760" y="182880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89520" y="182880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55280" y="182880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21040" y="182880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219456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240" y="219456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0" y="219456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23760" y="219456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0" y="219456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55280" y="219456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21040" y="219456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26480" y="256032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92240" y="256032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858000" y="256032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23760" y="256032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89520" y="256032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55280" y="256032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321040" y="256032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26480" y="292608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92240" y="292608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858000" y="292608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23760" y="292608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589520" y="2926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955280" y="292608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321040" y="2926080"/>
            <a:ext cx="365760" cy="36576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26480" y="3291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92240" y="3291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58000" y="3291840"/>
            <a:ext cx="365760" cy="36576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223760" y="3291840"/>
            <a:ext cx="365760" cy="36576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89520" y="3291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3291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321040" y="3291840"/>
            <a:ext cx="365760" cy="365760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3210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Artificial Intelligence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AI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7432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the branch of computer science that builds machines able to reason, learn from data, make decisions and solve problems the way humans do.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4612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Search Matters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7432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 problems are modelled as states and actions. Search algorithms explore these states systematically to find a route from the start to the goal.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504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6263640" y="27432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powers GPS navigation, game characters, warehouse robots, self-driving cars, scheduling and logistics, and puzzle solving.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53312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Intelligent Path Finding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4813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manual trial and error wastes time and may never reach the goal. An intelligent method reaches it in an organised way.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28600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42032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Maze-Solving Challenges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417320" y="26700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block movement, dead ends trap the solver, and loops cause endless revisits, so a route must be chosen with care.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34747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30752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Search Algorithms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385876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explore every option in a fixed order, always find a path if one exists, and let us measure path length, nodes visited and time.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8521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with dead ends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852160" y="1280160"/>
            <a:ext cx="402336" cy="402336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5216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254496" y="128016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56832" y="128016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059168" y="1280160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61504" y="128016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863840" y="128016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66176" y="128016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52160" y="1682496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254496" y="1682496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656832" y="168249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059168" y="1682496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461504" y="168249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863840" y="1682496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66176" y="168249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852160" y="2084832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254496" y="2084832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656832" y="2084832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059168" y="2084832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461504" y="2084832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863840" y="2084832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8266176" y="2084832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852160" y="2487168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254496" y="2487168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656832" y="2487168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059168" y="2487168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7461504" y="2487168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863840" y="2487168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266176" y="2487168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5852160" y="2889504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254496" y="2889504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6656832" y="2889504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7059168" y="2889504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461504" y="2889504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863840" y="2889504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266176" y="2889504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852160" y="3291840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254496" y="3291840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656832" y="329184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7059168" y="329184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7461504" y="329184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7863840" y="329184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8266176" y="3291840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5852160" y="369417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254496" y="369417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656832" y="369417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7059168" y="3694176"/>
            <a:ext cx="402336" cy="402336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7461504" y="369417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7863840" y="3694176"/>
            <a:ext cx="40233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8266176" y="3694176"/>
            <a:ext cx="402336" cy="402336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8266176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3F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Path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97180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valid route from the Start cell to the Goal cell through open cells, avoiding all walls.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154680" y="16002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3F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670048" y="297180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Breadth-First and Depth-First Search in Python using a queue and a stack.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257800" y="16002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3F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373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548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773168" y="297180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path length, nodes visited and execution time to see the trade-offs.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360920" y="16002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3F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373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580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876288" y="297180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visited cell and the final path step by step in a Tkinter GUI.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17373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walls, start/goal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865376" y="2514600"/>
            <a:ext cx="201168" cy="274320"/>
          </a:xfrm>
          <a:prstGeom prst="rightArrow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103120" y="17373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9202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4884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Creation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19456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grid model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02736" y="2514600"/>
            <a:ext cx="201168" cy="274320"/>
          </a:xfrm>
          <a:prstGeom prst="rightArrow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40480" y="17373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1E6FD9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202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88620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 Engine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93192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 stack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340096" y="2514600"/>
            <a:ext cx="201168" cy="274320"/>
          </a:xfrm>
          <a:prstGeom prst="rightArrow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577840" y="17373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9202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62356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Finding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66928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Parent-pointer rebuild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077456" y="2514600"/>
            <a:ext cx="201168" cy="274320"/>
          </a:xfrm>
          <a:prstGeom prst="rightArrow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315200" y="17373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92024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3609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Visualization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740664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+ stats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defines the maze, start and goal. The maze is stored as a 2D grid. The BFS or DFS engine explores neighbouring cells, the path is rebuilt from parent pointers, and the GUI displays the visited cells, final path and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00584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all neighbours of a cell before moving to cells that are further away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57276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outward from Start in layers, like ripples spreading on water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39696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13969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holds the frontier; the oldest cell is expanded first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706624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706624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and always gives the shortest path in an unweighted maze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273552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273552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E): each cell and edge is processed once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4048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O(V): the queue and visited set can hold many cells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0" y="1143000"/>
            <a:ext cx="457200" cy="457200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436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11430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15200" y="11430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72400" y="11430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58000" y="16002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3152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0" y="16002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29200" y="20574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29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86400" y="20574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9436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943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8580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58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315200" y="20574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72400" y="20574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772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772400" y="25146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772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29718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772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5029200" y="34290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486400" y="34290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943600" y="34290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59436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6858000" y="34290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315200" y="34290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315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50292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4864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943600" y="3886200"/>
            <a:ext cx="457200" cy="457200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59436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8580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3152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502920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= visit order; yellow = shortest path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00584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one path as deep as possible before trying another branch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57276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ahead until stuck, then backtracks to the last unexplored choice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39696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13969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stack or recursion remembers the choices to return 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706624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706624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code and keeps only the current branch in memory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273552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273552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E): each cell and edge is processed once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411480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4048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O(V): worst case stack depth equals the number of cells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0" y="1143000"/>
            <a:ext cx="457200" cy="457200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436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152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72400" y="1143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58000" y="16002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315200" y="1600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0" y="16002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29200" y="20574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86400" y="20574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436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943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8580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58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315200" y="20574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772400" y="20574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772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772400" y="25146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772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772400" y="29718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772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5029200" y="34290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486400" y="34290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943600" y="34290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858000" y="34290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315200" y="34290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50292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4864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9436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8580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315200" y="38862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84" name="Text 81"/>
          <p:cNvSpPr txBox="1"/>
          <p:nvPr/>
        </p:nvSpPr>
        <p:spPr>
          <a:xfrm>
            <a:off x="502920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= visit order; yellow = path found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vs DFS Comparison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by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/ recursion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(wide frontier)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(current branch)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Explores broadly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if goal is deep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577840" y="1005840"/>
          <a:ext cx="3200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use BFS when the shortest path matters; use DFS when memory is limited or any valid path is acceptable.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005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3: core language, deque for BFS, list as stack for DFS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164592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5564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1645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GUI: buttons and a Canvas to draw the maze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57200" y="22860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95728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2860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grid: 2D list where 0 is open and 1 is a wall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57200" y="29260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35808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2926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reconstruction: parent pointers traced back from Goal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57200" y="356616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7588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1560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cells coloured in order as they are visited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206240" y="1005840"/>
            <a:ext cx="4480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A5B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4206240" y="1005840"/>
            <a:ext cx="4480560" cy="2743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2976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Solver - BFS / DFS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389120" y="1417320"/>
            <a:ext cx="329184" cy="329184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438912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718304" y="141732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047488" y="141732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376672" y="141732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705856" y="141732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035040" y="141732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364224" y="141732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389120" y="174650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718304" y="174650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047488" y="174650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76672" y="174650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705856" y="174650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035040" y="174650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64224" y="174650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389120" y="207568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718304" y="207568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047488" y="207568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376672" y="207568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705856" y="207568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035040" y="2075688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364224" y="207568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389120" y="240487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4718304" y="240487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5047488" y="240487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376672" y="240487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705856" y="240487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035040" y="240487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6364224" y="2404872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389120" y="273405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4718304" y="273405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5047488" y="273405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5376672" y="273405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5705856" y="273405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035040" y="273405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364224" y="2734056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4389120" y="306324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718304" y="306324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5047488" y="306324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5376672" y="306324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5705856" y="306324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6035040" y="306324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6364224" y="306324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4389120" y="339242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4718304" y="339242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5047488" y="339242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5376672" y="339242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5705856" y="339242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6035040" y="339242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6364224" y="3392424"/>
            <a:ext cx="329184" cy="329184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4" name="Text 66"/>
          <p:cNvSpPr txBox="1"/>
          <p:nvPr/>
        </p:nvSpPr>
        <p:spPr>
          <a:xfrm>
            <a:off x="6364224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75" name="Shape 67"/>
          <p:cNvSpPr/>
          <p:nvPr/>
        </p:nvSpPr>
        <p:spPr>
          <a:xfrm>
            <a:off x="6949440" y="1463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6949440" y="1463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BFS</a:t>
            </a:r>
            <a:endParaRPr lang="en-US" sz="1100" dirty="0"/>
          </a:p>
        </p:txBody>
      </p:sp>
      <p:sp>
        <p:nvSpPr>
          <p:cNvPr id="77" name="Shape 69"/>
          <p:cNvSpPr/>
          <p:nvPr/>
        </p:nvSpPr>
        <p:spPr>
          <a:xfrm>
            <a:off x="6949440" y="19202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694944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DFS</a:t>
            </a:r>
            <a:endParaRPr lang="en-US" sz="1100" dirty="0"/>
          </a:p>
        </p:txBody>
      </p:sp>
      <p:sp>
        <p:nvSpPr>
          <p:cNvPr id="79" name="Shape 71"/>
          <p:cNvSpPr/>
          <p:nvPr/>
        </p:nvSpPr>
        <p:spPr>
          <a:xfrm>
            <a:off x="6949440" y="23774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E1E8F3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6949440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81" name="Text 73"/>
          <p:cNvSpPr txBox="1"/>
          <p:nvPr/>
        </p:nvSpPr>
        <p:spPr>
          <a:xfrm>
            <a:off x="694944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Outputs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Maze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280160"/>
            <a:ext cx="329184" cy="329184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32104" y="128016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1288" y="128016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90472" y="128016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19656" y="128016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8840" y="128016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78024" y="128016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61288" y="160934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90472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19656" y="160934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48840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78024" y="160934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61288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490472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19656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48840" y="1938528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78024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61288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490472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19656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148840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478024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2104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61288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490472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819656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148840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478024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292608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2104" y="292608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61288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490472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819656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148840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478024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02920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32104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61288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490472" y="325526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819656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148840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478024" y="3255264"/>
            <a:ext cx="329184" cy="329184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47802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324612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Output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3291840" y="1280160"/>
            <a:ext cx="329184" cy="329184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29184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621024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950208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279392" y="128016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608576" y="1280160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937760" y="1280160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266944" y="1280160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91840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621024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950208" y="160934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279392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608576" y="1609344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937760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266944" y="1609344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91840" y="1938528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621024" y="1938528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950208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279392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608576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937760" y="1938528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266944" y="1938528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291840" y="2267712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21024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950208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279392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608576" y="2267712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937760" y="2267712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266944" y="2267712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291840" y="2596896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21024" y="2596896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950208" y="2596896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279392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608576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937760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266944" y="2596896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91840" y="292608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621024" y="292608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950208" y="2926080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279392" y="2926080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608576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937760" y="2926080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266944" y="292608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3291840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621024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950208" y="3255264"/>
            <a:ext cx="329184" cy="329184"/>
          </a:xfrm>
          <a:prstGeom prst="rect">
            <a:avLst/>
          </a:prstGeom>
          <a:solidFill>
            <a:srgbClr val="9CC3F5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279392" y="325526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608576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937760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5266944" y="3255264"/>
            <a:ext cx="329184" cy="329184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52669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10" name="Text 107"/>
          <p:cNvSpPr txBox="1"/>
          <p:nvPr/>
        </p:nvSpPr>
        <p:spPr>
          <a:xfrm>
            <a:off x="603504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Output</a:t>
            </a:r>
            <a:endParaRPr lang="en-US" sz="1300" dirty="0"/>
          </a:p>
        </p:txBody>
      </p:sp>
      <p:sp>
        <p:nvSpPr>
          <p:cNvPr id="111" name="Shape 108"/>
          <p:cNvSpPr/>
          <p:nvPr/>
        </p:nvSpPr>
        <p:spPr>
          <a:xfrm>
            <a:off x="6080760" y="1280160"/>
            <a:ext cx="329184" cy="329184"/>
          </a:xfrm>
          <a:prstGeom prst="rect">
            <a:avLst/>
          </a:prstGeom>
          <a:solidFill>
            <a:srgbClr val="22A06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0807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6409944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6739128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068312" y="128016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397496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726680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055864" y="128016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080760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409944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6739128" y="160934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7068312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7397496" y="160934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7726680" y="160934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8055864" y="1609344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080760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09944" y="193852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6739128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068312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397496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726680" y="1938528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8055864" y="1938528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6080760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6409944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6739128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068312" y="2267712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7397496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726680" y="2267712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8055864" y="2267712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6080760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409944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6739128" y="2596896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7068312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7397496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7726680" y="2596896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055864" y="2596896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080760" y="292608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6409944" y="2926080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739128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7068312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7397496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7726680" y="2926080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8055864" y="2926080"/>
            <a:ext cx="329184" cy="329184"/>
          </a:xfrm>
          <a:prstGeom prst="rect">
            <a:avLst/>
          </a:prstGeom>
          <a:solidFill>
            <a:srgbClr val="F5B301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6080760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6409944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739128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7068312" y="3255264"/>
            <a:ext cx="329184" cy="329184"/>
          </a:xfrm>
          <a:prstGeom prst="rect">
            <a:avLst/>
          </a:prstGeom>
          <a:solidFill>
            <a:srgbClr val="0B2A5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7397496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7726680" y="3255264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8055864" y="3255264"/>
            <a:ext cx="329184" cy="329184"/>
          </a:xfrm>
          <a:prstGeom prst="rect">
            <a:avLst/>
          </a:prstGeom>
          <a:solidFill>
            <a:srgbClr val="E5484D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161" name="Text 158"/>
          <p:cNvSpPr txBox="1"/>
          <p:nvPr/>
        </p:nvSpPr>
        <p:spPr>
          <a:xfrm>
            <a:off x="805586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62" name="Shape 159"/>
          <p:cNvSpPr/>
          <p:nvPr/>
        </p:nvSpPr>
        <p:spPr>
          <a:xfrm>
            <a:off x="457200" y="402336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3" name="Text 160"/>
          <p:cNvSpPr txBox="1"/>
          <p:nvPr/>
        </p:nvSpPr>
        <p:spPr>
          <a:xfrm>
            <a:off x="54864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(BFS / DFS)</a:t>
            </a:r>
            <a:endParaRPr lang="en-US" sz="1100" dirty="0"/>
          </a:p>
        </p:txBody>
      </p:sp>
      <p:sp>
        <p:nvSpPr>
          <p:cNvPr id="164" name="Text 161"/>
          <p:cNvSpPr txBox="1"/>
          <p:nvPr/>
        </p:nvSpPr>
        <p:spPr>
          <a:xfrm>
            <a:off x="54864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800" dirty="0"/>
          </a:p>
        </p:txBody>
      </p:sp>
      <p:sp>
        <p:nvSpPr>
          <p:cNvPr id="165" name="Shape 162"/>
          <p:cNvSpPr/>
          <p:nvPr/>
        </p:nvSpPr>
        <p:spPr>
          <a:xfrm>
            <a:off x="3246120" y="402336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333756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Visited (BFS / DFS)</a:t>
            </a:r>
            <a:endParaRPr lang="en-US" sz="1100" dirty="0"/>
          </a:p>
        </p:txBody>
      </p:sp>
      <p:sp>
        <p:nvSpPr>
          <p:cNvPr id="167" name="Text 164"/>
          <p:cNvSpPr txBox="1"/>
          <p:nvPr/>
        </p:nvSpPr>
        <p:spPr>
          <a:xfrm>
            <a:off x="333756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17</a:t>
            </a:r>
            <a:endParaRPr lang="en-US" sz="1800" dirty="0"/>
          </a:p>
        </p:txBody>
      </p:sp>
      <p:sp>
        <p:nvSpPr>
          <p:cNvPr id="168" name="Shape 165"/>
          <p:cNvSpPr/>
          <p:nvPr/>
        </p:nvSpPr>
        <p:spPr>
          <a:xfrm>
            <a:off x="6035040" y="402336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612648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(ms) (BFS / DFS)</a:t>
            </a:r>
            <a:endParaRPr lang="en-US" sz="1100" dirty="0"/>
          </a:p>
        </p:txBody>
      </p:sp>
      <p:sp>
        <p:nvSpPr>
          <p:cNvPr id="170" name="Text 167"/>
          <p:cNvSpPr txBox="1"/>
          <p:nvPr/>
        </p:nvSpPr>
        <p:spPr>
          <a:xfrm>
            <a:off x="612648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0.176 / 0.044</a:t>
            </a:r>
            <a:endParaRPr lang="en-US" sz="1800" dirty="0"/>
          </a:p>
        </p:txBody>
      </p:sp>
      <p:sp>
        <p:nvSpPr>
          <p:cNvPr id="171" name="Text 168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visited more cells but returned the shortest path; DFS visited fewer cells but its path is longer.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Future Enhancements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DCEAFD"/>
          </a:solidFill>
          <a:ln w="12700">
            <a:solidFill>
              <a:srgbClr val="DCEAF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190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plan collision-free routes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Routing Systems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roads between two places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8211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move around obstacles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13632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safe paths through traffic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937760" y="1719072"/>
            <a:ext cx="411480" cy="41148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93776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53212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 Algorithm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heuristic to search faster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937760" y="2450592"/>
            <a:ext cx="411480" cy="41148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93776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53212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cells with different costs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937760" y="3182112"/>
            <a:ext cx="411480" cy="41148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93776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53212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Maze Generation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random mazes automatically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37760" y="3913632"/>
            <a:ext cx="411480" cy="41148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93776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53212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Maze Solving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search to multiple levels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Python and Tkinter maze solver that finds a Start-to-Goal path with BFS and DFS, shows the search live, and reports path length, nodes visited and time.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918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State-space search, queue versus stack behaviour, path reconstruction, complexity analysis, and comparing algorithms using measured results.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 are the foundation of AI. The same ideas drive GPS routing, robots, games and autonomous vehicles.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Foundations of Artificial Intelligence   |   Guided By: Muneeshwari 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Maze Solver Using BFS and DFS</dc:title>
  <dc:subject>PptxGenJS Presentation</dc:subject>
  <dc:creator>PptxGenJS</dc:creator>
  <cp:lastModifiedBy>PptxGenJS</cp:lastModifiedBy>
  <cp:revision>1</cp:revision>
  <dcterms:created xsi:type="dcterms:W3CDTF">2026-09-29T03:37:22Z</dcterms:created>
  <dcterms:modified xsi:type="dcterms:W3CDTF">2026-09-29T03:37:22Z</dcterms:modified>
</cp:coreProperties>
</file>